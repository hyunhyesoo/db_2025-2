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8E085-89EE-96CF-B437-4DCCD640C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A7D44F-7545-D4B3-E21A-31EB6FE11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139A01-10D5-61EB-D8BD-C88C50A4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3E3C88-E994-64E8-CC0E-0F9B60F2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65FB6-5112-8FE3-C880-8A105EF2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46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221D8-0859-0756-2478-4D03B2FD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6C50DC-2056-1595-1184-231D0C513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126F9-64B9-487D-792C-408A461E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00EE88-0B5A-5E8F-D2E0-6A33E60D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6A75A0-0F7A-84A7-85F1-5C3903AE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79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AA365-5F1B-F55C-0B4D-62B9DBC5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3BD6E3-7DFB-4D45-AA9A-60EFE82E0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24175-FD98-E2EE-6868-55428FFDA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B14A62-986F-F268-3861-BB350CA6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4F9B0F-6F3E-2398-DF69-81CA26B46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6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0BB22-26E8-5D13-0712-4C94EF50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495F8A-7A56-9E23-EE99-4324D01BB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6F1E58-63CD-339C-95C3-707CB6822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55559B-F4BB-594E-C2B5-A91793C7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32CD04-BB53-C9B3-1D4D-579099AB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E0DAAB-4DB0-9845-A0CD-6E00220D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7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FADA8-05C3-8F7C-255D-93CFAC81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529FEE-4F07-20FD-2075-921C91BBB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20181B-23CF-DD14-832E-5518F0C65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CB5103-05F3-19E9-EA34-19D8906D4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8E3E70-D0B7-FB56-6BA4-4FBE664E1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5D7892-8170-8C88-7605-C1FD394A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5A0894-1445-C112-F53C-02C12434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1CCC80-2D99-C0F0-9A2B-FB98F063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6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7F5F2-C003-11FD-DBC9-77EB7312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6F625B6-85D3-448C-B46F-86FBE5B9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DAB1F7-F674-F987-D27B-5AF9B83E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BF082F-8A4E-9B0D-04E5-9FB8731E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14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68AEC1-31EA-32CF-9DF3-5C1C36B7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1677CE-C9F4-F3AC-55AC-E350C330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30C2F0-716A-B33C-2146-7B42FDC6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83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D89DB-F239-FA06-0685-B66C2130F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CB7400-4B8E-080B-5E1E-30214F087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843F57-28E6-2821-F370-7C8CA10BD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C39EF2-5FA9-0A55-A59E-59C45B8A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37A6CF-D424-8D0E-C775-EDE20474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06C13E-7ED4-9AD2-962D-2E8357FB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08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B300A-AB50-6DBB-8764-B4F6CBEE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E62CB8-1757-89F4-B949-4272203F3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C7E9F2-6C6C-8A22-23E2-03DB7BD98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0EDFCC-507C-A961-0305-44D06C52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0926-7651-F1B4-335B-DEA7CB73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74514C-51A7-E4BF-2041-FCADEDDE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01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7F42F-E207-8838-E42F-7904DF03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6F31CD-D1D1-15E9-E419-5F696B784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72431E-3490-70FB-7356-F874B6E7F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52B18-5A28-68E2-7940-FE55C2A5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561FE7-DFB8-73EE-30F2-FB2EA96E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785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6E17CF-181A-9F4D-05F6-8533BF049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B4994E-8DF5-B5A4-4CC9-A2AB51527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AF4EA-9014-C641-7544-8FBD1655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7A9A4-4BDF-94EF-0E52-429A9E2E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1D1D0D-FB4B-AAD9-B0E6-60C8534F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23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36FB8E-33F7-51F8-EF27-50D68D31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2F806C-6A95-C7C2-4F37-37117D17B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C9200-ABFE-D74D-0771-49FBD5448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FF87C-BA4B-4F03-80E3-1B2CA2AFBC6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AFA843-35B5-8AA9-5D43-34F548596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DB4FF4-55BF-C2A9-3465-BE9E4F26C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26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E9F82-4B42-197A-1CF4-168DA7D837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요구분석명세서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1C59F3-B3F3-7012-3DDC-A15FA8BED1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도서관 대출 관리 시스템</a:t>
            </a:r>
          </a:p>
        </p:txBody>
      </p:sp>
    </p:spTree>
    <p:extLst>
      <p:ext uri="{BB962C8B-B14F-4D97-AF65-F5344CB8AC3E}">
        <p14:creationId xmlns:p14="http://schemas.microsoft.com/office/powerpoint/2010/main" val="3832541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AE107-E37A-322A-45DC-7582CDBF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2C3FA9-F212-29E0-86FA-3FA3744FA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도서관의 도서 대출 및 반납 과정을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</a:t>
            </a:r>
            <a:r>
              <a:rPr lang="ko-KR" altLang="en-US" sz="2400" dirty="0"/>
              <a:t>효율적으로 관리하기 위한 시스템을 개발한다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일반 이용자</a:t>
            </a:r>
            <a:r>
              <a:rPr lang="en-US" altLang="ko-KR" sz="2400" dirty="0"/>
              <a:t>(</a:t>
            </a:r>
            <a:r>
              <a:rPr lang="ko-KR" altLang="en-US" sz="2400" dirty="0"/>
              <a:t>학생</a:t>
            </a:r>
            <a:r>
              <a:rPr lang="en-US" altLang="ko-KR" sz="2400" dirty="0"/>
              <a:t>, </a:t>
            </a:r>
            <a:r>
              <a:rPr lang="ko-KR" altLang="en-US" sz="2400" dirty="0"/>
              <a:t>교직원 등</a:t>
            </a:r>
            <a:r>
              <a:rPr lang="en-US" altLang="ko-KR" sz="2400" dirty="0"/>
              <a:t>)</a:t>
            </a:r>
            <a:r>
              <a:rPr lang="ko-KR" altLang="en-US" sz="2400" dirty="0"/>
              <a:t>와 도서관 관리자가 사용한다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대출</a:t>
            </a:r>
            <a:r>
              <a:rPr lang="en-US" altLang="ko-KR" sz="2400" dirty="0"/>
              <a:t> </a:t>
            </a:r>
            <a:r>
              <a:rPr lang="ko-KR" altLang="en-US" sz="2400" dirty="0"/>
              <a:t>및 반납의 자동화로 업무 효율성 향상과 운영 개선을 기대한다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998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E2341-0D96-05EE-2D2E-4BB7ED8C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요구사항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3959B-4B69-301E-E10F-E87A198CD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도서 검색 기능</a:t>
            </a:r>
            <a:endParaRPr lang="en-US" altLang="ko-KR" dirty="0"/>
          </a:p>
          <a:p>
            <a:r>
              <a:rPr lang="ko-KR" altLang="en-US" dirty="0"/>
              <a:t>도서 대출 기능</a:t>
            </a:r>
            <a:endParaRPr lang="en-US" altLang="ko-KR" dirty="0"/>
          </a:p>
          <a:p>
            <a:r>
              <a:rPr lang="ko-KR" altLang="en-US" dirty="0"/>
              <a:t>도서 반납 기능</a:t>
            </a:r>
            <a:endParaRPr lang="en-US" altLang="ko-KR" dirty="0"/>
          </a:p>
          <a:p>
            <a:r>
              <a:rPr lang="ko-KR" altLang="en-US" dirty="0"/>
              <a:t>연체 관리 기능</a:t>
            </a:r>
            <a:endParaRPr lang="en-US" altLang="ko-KR" dirty="0"/>
          </a:p>
          <a:p>
            <a:r>
              <a:rPr lang="ko-KR" altLang="en-US" dirty="0"/>
              <a:t>사용자 관리 기능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66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F44B4-485F-8F14-237B-1A0671CA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1E554-647D-EF02-FAD3-BEEEBE28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비기능</a:t>
            </a:r>
            <a:r>
              <a:rPr lang="ko-KR" altLang="en-US" dirty="0"/>
              <a:t> 요구사항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E286F-D6EA-D81F-A94F-AFB6A50DB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도서 검색 기능</a:t>
            </a:r>
            <a:endParaRPr lang="en-US" altLang="ko-KR" dirty="0"/>
          </a:p>
          <a:p>
            <a:r>
              <a:rPr lang="ko-KR" altLang="en-US" dirty="0"/>
              <a:t>도서 대출 기능</a:t>
            </a:r>
            <a:endParaRPr lang="en-US" altLang="ko-KR" dirty="0"/>
          </a:p>
          <a:p>
            <a:r>
              <a:rPr lang="ko-KR" altLang="en-US" dirty="0"/>
              <a:t>도서 반납 기능</a:t>
            </a:r>
            <a:endParaRPr lang="en-US" altLang="ko-KR" dirty="0"/>
          </a:p>
          <a:p>
            <a:r>
              <a:rPr lang="ko-KR" altLang="en-US" dirty="0"/>
              <a:t>연체 관리 기능</a:t>
            </a:r>
            <a:endParaRPr lang="en-US" altLang="ko-KR" dirty="0"/>
          </a:p>
          <a:p>
            <a:r>
              <a:rPr lang="ko-KR" altLang="en-US" dirty="0"/>
              <a:t>사용자 관리 기능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927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C6AB-CF31-FBBD-6428-85A85283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71903-0AEC-77BF-A21E-080A471D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B8D84C-8328-9714-7E1C-B6BE89377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dirty="0"/>
              <a:t>도서관 이용자로 가입하려면 학번</a:t>
            </a:r>
            <a:r>
              <a:rPr lang="en-US" altLang="ko-KR" sz="1400" dirty="0"/>
              <a:t>/</a:t>
            </a:r>
            <a:r>
              <a:rPr lang="ko-KR" altLang="en-US" sz="1400" dirty="0"/>
              <a:t>교번</a:t>
            </a:r>
            <a:r>
              <a:rPr lang="en-US" altLang="ko-KR" sz="1400" dirty="0"/>
              <a:t>, </a:t>
            </a:r>
            <a:r>
              <a:rPr lang="ko-KR" altLang="en-US" sz="1400" dirty="0"/>
              <a:t>학과</a:t>
            </a:r>
            <a:r>
              <a:rPr lang="en-US" altLang="ko-KR" sz="1400" dirty="0"/>
              <a:t>, </a:t>
            </a:r>
            <a:r>
              <a:rPr lang="ko-KR" altLang="en-US" sz="1400" dirty="0"/>
              <a:t>학년</a:t>
            </a:r>
            <a:r>
              <a:rPr lang="en-US" altLang="ko-KR" sz="1400" dirty="0"/>
              <a:t>, </a:t>
            </a:r>
            <a:r>
              <a:rPr lang="ko-KR" altLang="en-US" sz="1400" dirty="0"/>
              <a:t>이름을 입력해야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이용자에게는 등급이 부여된다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이용자는 학번</a:t>
            </a:r>
            <a:r>
              <a:rPr lang="en-US" altLang="ko-KR" sz="1400" dirty="0"/>
              <a:t> / </a:t>
            </a:r>
            <a:r>
              <a:rPr lang="ko-KR" altLang="en-US" sz="1400" dirty="0"/>
              <a:t>교번으로 식별한다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도서에 대한 도서번호</a:t>
            </a:r>
            <a:r>
              <a:rPr lang="en-US" altLang="ko-KR" sz="1400" dirty="0"/>
              <a:t>, </a:t>
            </a:r>
            <a:r>
              <a:rPr lang="ko-KR" altLang="en-US" sz="1400" dirty="0"/>
              <a:t>도서명</a:t>
            </a:r>
            <a:r>
              <a:rPr lang="en-US" altLang="ko-KR" sz="1400" dirty="0"/>
              <a:t>, </a:t>
            </a:r>
            <a:r>
              <a:rPr lang="ko-KR" altLang="en-US" sz="1400" dirty="0"/>
              <a:t>도서위치</a:t>
            </a:r>
            <a:r>
              <a:rPr lang="en-US" altLang="ko-KR" sz="1400" dirty="0"/>
              <a:t>, </a:t>
            </a:r>
            <a:r>
              <a:rPr lang="ko-KR" altLang="en-US" sz="1400" dirty="0"/>
              <a:t>재고 정보를 유지해야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도서는 도서번호로 식별한다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이용자는 여러 도서를 대출할 수 있고</a:t>
            </a:r>
            <a:r>
              <a:rPr lang="en-US" altLang="ko-KR" sz="1400" dirty="0"/>
              <a:t>, </a:t>
            </a:r>
            <a:r>
              <a:rPr lang="ko-KR" altLang="en-US" sz="1400" dirty="0"/>
              <a:t>하나의 도서를 한 이용자가 대출할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이용자가 도서를 대출하면 대출에 대한 대출일자</a:t>
            </a:r>
            <a:r>
              <a:rPr lang="en-US" altLang="ko-KR" sz="1400" dirty="0"/>
              <a:t>, </a:t>
            </a:r>
            <a:r>
              <a:rPr lang="ko-KR" altLang="en-US" sz="1400" dirty="0"/>
              <a:t>반납예정일자</a:t>
            </a:r>
            <a:r>
              <a:rPr lang="en-US" altLang="ko-KR" sz="1400" dirty="0"/>
              <a:t> </a:t>
            </a:r>
            <a:r>
              <a:rPr lang="ko-KR" altLang="en-US" sz="1400" dirty="0"/>
              <a:t>정보를 유지해야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사용자는 도서명</a:t>
            </a:r>
            <a:r>
              <a:rPr lang="en-US" altLang="ko-KR" sz="1400" dirty="0"/>
              <a:t>, </a:t>
            </a:r>
            <a:r>
              <a:rPr lang="ko-KR" altLang="en-US" sz="1400" dirty="0"/>
              <a:t>저자명 등의 정보를 통해 도서를 검색할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이용자는 인증 후 도서를 대출 </a:t>
            </a:r>
            <a:r>
              <a:rPr lang="en-US" altLang="ko-KR" sz="1400" dirty="0"/>
              <a:t>/ </a:t>
            </a:r>
            <a:r>
              <a:rPr lang="ko-KR" altLang="en-US" sz="1400" dirty="0"/>
              <a:t>반납한다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시스템은 반납 기한 초과 시 연체 알림 제공 및 연체 정보를 유지한다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이용자는 가입을 통해 시스템에 등록되고</a:t>
            </a:r>
            <a:r>
              <a:rPr lang="en-US" altLang="ko-KR" sz="1400" dirty="0"/>
              <a:t> </a:t>
            </a:r>
            <a:r>
              <a:rPr lang="ko-KR" altLang="en-US" sz="1400" dirty="0"/>
              <a:t>이후</a:t>
            </a:r>
            <a:r>
              <a:rPr lang="en-US" altLang="ko-KR" sz="1400" dirty="0"/>
              <a:t> </a:t>
            </a:r>
            <a:r>
              <a:rPr lang="ko-KR" altLang="en-US" sz="1400" dirty="0"/>
              <a:t>정보 수정</a:t>
            </a:r>
            <a:r>
              <a:rPr lang="en-US" altLang="ko-KR" sz="1400" dirty="0"/>
              <a:t>, </a:t>
            </a:r>
            <a:r>
              <a:rPr lang="ko-KR" altLang="en-US" sz="1400" dirty="0"/>
              <a:t>대출 이력을 조회할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도서관리자는 도서를 등록</a:t>
            </a:r>
            <a:r>
              <a:rPr lang="en-US" altLang="ko-KR" sz="1400" dirty="0"/>
              <a:t>, </a:t>
            </a:r>
            <a:r>
              <a:rPr lang="ko-KR" altLang="en-US" sz="1400" dirty="0"/>
              <a:t>삭제</a:t>
            </a:r>
            <a:r>
              <a:rPr lang="en-US" altLang="ko-KR" sz="1400" dirty="0"/>
              <a:t>, </a:t>
            </a:r>
            <a:r>
              <a:rPr lang="ko-KR" altLang="en-US" sz="1400" dirty="0"/>
              <a:t>수정할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도서관리자는 이용자 정보 관리</a:t>
            </a:r>
            <a:r>
              <a:rPr lang="en-US" altLang="ko-KR" sz="1400" dirty="0"/>
              <a:t>, </a:t>
            </a:r>
            <a:r>
              <a:rPr lang="ko-KR" altLang="en-US" sz="1400" dirty="0"/>
              <a:t>이용 현황을 조회할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관리자 기능은 인증된 사용자만 접근할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592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94A9-D889-F8FB-E6F0-4A3C5F62B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B04B4-A6C1-D234-9596-EB928951C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6B3DEA-F4CA-EFF6-B852-0260F3C6E181}"/>
              </a:ext>
            </a:extLst>
          </p:cNvPr>
          <p:cNvSpPr/>
          <p:nvPr/>
        </p:nvSpPr>
        <p:spPr>
          <a:xfrm>
            <a:off x="2654840" y="1705685"/>
            <a:ext cx="941962" cy="4980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이용자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14AA832-35B8-E3B1-12C3-9642DC4D5BCF}"/>
              </a:ext>
            </a:extLst>
          </p:cNvPr>
          <p:cNvSpPr/>
          <p:nvPr/>
        </p:nvSpPr>
        <p:spPr>
          <a:xfrm>
            <a:off x="107005" y="2930965"/>
            <a:ext cx="1128409" cy="4980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학번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98A6B6-BCB5-4DC2-EABF-D12CF7D4FC65}"/>
              </a:ext>
            </a:extLst>
          </p:cNvPr>
          <p:cNvSpPr/>
          <p:nvPr/>
        </p:nvSpPr>
        <p:spPr>
          <a:xfrm>
            <a:off x="8245813" y="1705685"/>
            <a:ext cx="941962" cy="4980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관리자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136626-6859-D745-309A-690A07564B6A}"/>
              </a:ext>
            </a:extLst>
          </p:cNvPr>
          <p:cNvSpPr/>
          <p:nvPr/>
        </p:nvSpPr>
        <p:spPr>
          <a:xfrm>
            <a:off x="5625019" y="4497525"/>
            <a:ext cx="941962" cy="4980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도서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A8DCE4C-3CC1-60CC-1886-FC2AFA6B07DE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210" y="2203720"/>
            <a:ext cx="2454611" cy="7272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37C2104E-8AD4-0272-558B-FA8B73387D1C}"/>
              </a:ext>
            </a:extLst>
          </p:cNvPr>
          <p:cNvSpPr/>
          <p:nvPr/>
        </p:nvSpPr>
        <p:spPr>
          <a:xfrm>
            <a:off x="1347279" y="2945962"/>
            <a:ext cx="1128409" cy="4980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학과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77823D8-68B7-6889-A677-FAB41B63E96A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1911484" y="2203720"/>
            <a:ext cx="1214337" cy="7422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A66993EC-71CD-D2C2-3D57-64EB4773B7B5}"/>
              </a:ext>
            </a:extLst>
          </p:cNvPr>
          <p:cNvSpPr/>
          <p:nvPr/>
        </p:nvSpPr>
        <p:spPr>
          <a:xfrm>
            <a:off x="2558369" y="2960959"/>
            <a:ext cx="1128409" cy="4980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학년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E545B8C-E020-0398-379E-9D7AF82C7917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 flipH="1">
            <a:off x="3122574" y="2203720"/>
            <a:ext cx="3247" cy="757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50B243BC-FAEB-B644-69F3-AB42F552F203}"/>
              </a:ext>
            </a:extLst>
          </p:cNvPr>
          <p:cNvSpPr/>
          <p:nvPr/>
        </p:nvSpPr>
        <p:spPr>
          <a:xfrm>
            <a:off x="3788915" y="2960959"/>
            <a:ext cx="1128409" cy="4980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D383945-1E72-818B-ADE8-2AF90A44E678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>
            <a:off x="3125821" y="2203720"/>
            <a:ext cx="1227299" cy="757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69BAE13D-E1E0-00F2-6867-7461658EE640}"/>
              </a:ext>
            </a:extLst>
          </p:cNvPr>
          <p:cNvSpPr/>
          <p:nvPr/>
        </p:nvSpPr>
        <p:spPr>
          <a:xfrm>
            <a:off x="5026765" y="2945962"/>
            <a:ext cx="1128409" cy="4980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등급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E67C5C6-ACA7-B7DD-A74B-DF44F8F2CDA8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>
            <a:off x="3125821" y="2203720"/>
            <a:ext cx="2465149" cy="7422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59C4F32D-7F3C-C63D-A340-A6C26B9193E3}"/>
              </a:ext>
            </a:extLst>
          </p:cNvPr>
          <p:cNvSpPr/>
          <p:nvPr/>
        </p:nvSpPr>
        <p:spPr>
          <a:xfrm>
            <a:off x="8151780" y="2974437"/>
            <a:ext cx="1128409" cy="4980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3FFBD14-D54F-1A4B-05F4-8079B663C353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 flipH="1">
            <a:off x="8715985" y="2203720"/>
            <a:ext cx="809" cy="7707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847B10D9-9EA2-728B-8E05-16A388449E87}"/>
              </a:ext>
            </a:extLst>
          </p:cNvPr>
          <p:cNvSpPr/>
          <p:nvPr/>
        </p:nvSpPr>
        <p:spPr>
          <a:xfrm>
            <a:off x="5531795" y="5766277"/>
            <a:ext cx="1128409" cy="4980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490B572-09C0-F6CD-647C-6126081015DB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>
            <a:off x="6096000" y="4995560"/>
            <a:ext cx="0" cy="7707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677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233</Words>
  <Application>Microsoft Office PowerPoint</Application>
  <PresentationFormat>와이드스크린</PresentationFormat>
  <Paragraphs>43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요구분석명세서</vt:lpstr>
      <vt:lpstr>개요</vt:lpstr>
      <vt:lpstr>기능 요구사항</vt:lpstr>
      <vt:lpstr>비기능 요구사항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현혜수</dc:creator>
  <cp:lastModifiedBy>현혜수</cp:lastModifiedBy>
  <cp:revision>2</cp:revision>
  <dcterms:created xsi:type="dcterms:W3CDTF">2025-11-03T05:58:49Z</dcterms:created>
  <dcterms:modified xsi:type="dcterms:W3CDTF">2025-11-03T07:26:48Z</dcterms:modified>
</cp:coreProperties>
</file>